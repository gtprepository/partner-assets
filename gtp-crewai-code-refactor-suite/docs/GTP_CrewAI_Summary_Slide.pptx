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6647688" cy="941832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647688" cy="960120"/>
          </a:xfrm>
          <a:prstGeom prst="rect">
            <a:avLst/>
          </a:prstGeom>
          <a:solidFill>
            <a:srgbClr val="011D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960120"/>
          </a:xfrm>
          <a:prstGeom prst="rect">
            <a:avLst/>
          </a:prstGeom>
          <a:solidFill>
            <a:srgbClr val="004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64592" y="64008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GLOBAL TECHNOLOGY PARTNERS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" y="338328"/>
            <a:ext cx="4389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CBD5E1"/>
                </a:solidFill>
              </a:rPr>
              <a:t>Enterprise AI Solutions  |  globaltechnologypartners.com</a:t>
            </a:r>
          </a:p>
        </p:txBody>
      </p:sp>
      <p:sp>
        <p:nvSpPr>
          <p:cNvPr id="6" name="Rectangle 5"/>
          <p:cNvSpPr/>
          <p:nvPr/>
        </p:nvSpPr>
        <p:spPr>
          <a:xfrm>
            <a:off x="4480560" y="91440"/>
            <a:ext cx="2011680" cy="731520"/>
          </a:xfrm>
          <a:prstGeom prst="rect">
            <a:avLst/>
          </a:prstGeom>
          <a:solidFill>
            <a:srgbClr val="00E6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498848" y="109728"/>
            <a:ext cx="197510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011D57"/>
                </a:solidFill>
              </a:rPr>
              <a:t>BUILT 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98848" y="292608"/>
            <a:ext cx="197510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11D57"/>
                </a:solidFill>
              </a:rPr>
              <a:t>CrewAI Multi-Agent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98848" y="493776"/>
            <a:ext cx="197510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11D57"/>
                </a:solidFill>
              </a:rPr>
              <a:t>Platform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2" y="658368"/>
            <a:ext cx="4206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1">
                <a:solidFill>
                  <a:srgbClr val="00E6A5"/>
                </a:solidFill>
              </a:rPr>
              <a:t>Delivering CrewAI's Multi-Agent Platform to Your Enterprise — Designed. Built. Production-Ready.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960120"/>
            <a:ext cx="6647688" cy="704088"/>
          </a:xfrm>
          <a:prstGeom prst="rect">
            <a:avLst/>
          </a:prstGeom>
          <a:solidFill>
            <a:srgbClr val="F5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46304" y="1033272"/>
            <a:ext cx="6355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011D57"/>
                </a:solidFill>
              </a:rPr>
              <a:t>GTP builds on CrewAI to translate CrewAI's multi-agent platform into production-ready AI systems for your business — rapidly, reliably, and at enterprise scale. We help you unlock CrewAI value across your operations.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1664208"/>
            <a:ext cx="6647688" cy="237744"/>
          </a:xfrm>
          <a:prstGeom prst="rect">
            <a:avLst/>
          </a:prstGeom>
          <a:solidFill>
            <a:srgbClr val="101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92024" y="1709928"/>
            <a:ext cx="63550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0E6A5"/>
                </a:solidFill>
              </a:rPr>
              <a:t>THE CREWAI PLATFORM — WHAT WE BRING TO YOUR ORGANISATION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46304" y="1901952"/>
            <a:ext cx="2100072" cy="841248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46304" y="1901952"/>
            <a:ext cx="45720" cy="841248"/>
          </a:xfrm>
          <a:prstGeom prst="rect">
            <a:avLst/>
          </a:prstGeom>
          <a:solidFill>
            <a:srgbClr val="00E6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37744" y="1956816"/>
            <a:ext cx="197205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11D57"/>
                </a:solidFill>
              </a:rPr>
              <a:t>Crews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37744" y="2176272"/>
            <a:ext cx="1972056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6B7280"/>
                </a:solidFill>
              </a:rPr>
              <a:t>Self-organising teams of specialist AI agents — defined roles, goals, and full context sharing. They collaborate like a human team to solve complex problems autonomously.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273808" y="1901952"/>
            <a:ext cx="2100072" cy="841248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273808" y="1901952"/>
            <a:ext cx="45720" cy="841248"/>
          </a:xfrm>
          <a:prstGeom prst="rect">
            <a:avLst/>
          </a:prstGeom>
          <a:solidFill>
            <a:srgbClr val="00E6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365248" y="1956816"/>
            <a:ext cx="197205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11D57"/>
                </a:solidFill>
              </a:rPr>
              <a:t>Flows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65248" y="2176272"/>
            <a:ext cx="1972056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6B7280"/>
                </a:solidFill>
              </a:rPr>
              <a:t>Event-driven workflow orchestration — manages state, conditional branching, and business logic. The control layer that coordinates Crews end-to-end.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401312" y="1901952"/>
            <a:ext cx="2100072" cy="841248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401312" y="1901952"/>
            <a:ext cx="45720" cy="841248"/>
          </a:xfrm>
          <a:prstGeom prst="rect">
            <a:avLst/>
          </a:prstGeom>
          <a:solidFill>
            <a:srgbClr val="00E6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492752" y="1956816"/>
            <a:ext cx="197205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11D57"/>
                </a:solidFill>
              </a:rPr>
              <a:t>Enterprise Platform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92752" y="2176272"/>
            <a:ext cx="1972056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6B7280"/>
                </a:solidFill>
              </a:rPr>
              <a:t>Production runtime with centralised governance, monitoring, and guardrails. 65% of Fortune 500 run on CrewAI. 450M+ agentic workflows executed per month.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0" y="2743200"/>
            <a:ext cx="6647688" cy="237744"/>
          </a:xfrm>
          <a:prstGeom prst="rect">
            <a:avLst/>
          </a:prstGeom>
          <a:solidFill>
            <a:srgbClr val="101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92024" y="2788920"/>
            <a:ext cx="63550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0E6A5"/>
                </a:solidFill>
              </a:rPr>
              <a:t>HOW GTP HELPS YOU LEVERAGE CREWAI — YOUR IMPLEMENTATION TEAM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46304" y="2980944"/>
            <a:ext cx="3150108" cy="694944"/>
          </a:xfrm>
          <a:prstGeom prst="rect">
            <a:avLst/>
          </a:prstGeom>
          <a:solidFill>
            <a:srgbClr val="011D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146304" y="2980944"/>
            <a:ext cx="45720" cy="694944"/>
          </a:xfrm>
          <a:prstGeom prst="rect">
            <a:avLst/>
          </a:prstGeom>
          <a:solidFill>
            <a:srgbClr val="00E6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37744" y="3035808"/>
            <a:ext cx="302209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E6A5"/>
                </a:solidFill>
              </a:rPr>
              <a:t>Discover &amp; Design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37744" y="3236976"/>
            <a:ext cx="302209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CBD5E1"/>
                </a:solidFill>
              </a:rPr>
              <a:t>We map your business process to a CrewAI architecture — defining agent roles, tasks, and tools. From use-case discovery to agent blueprint in days, not months.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351276" y="2980944"/>
            <a:ext cx="3150108" cy="694944"/>
          </a:xfrm>
          <a:prstGeom prst="rect">
            <a:avLst/>
          </a:prstGeom>
          <a:solidFill>
            <a:srgbClr val="011D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3351276" y="2980944"/>
            <a:ext cx="45720" cy="694944"/>
          </a:xfrm>
          <a:prstGeom prst="rect">
            <a:avLst/>
          </a:prstGeom>
          <a:solidFill>
            <a:srgbClr val="00E6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442716" y="3035808"/>
            <a:ext cx="302209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E6A5"/>
                </a:solidFill>
              </a:rPr>
              <a:t>Build &amp; Integrate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442716" y="3236976"/>
            <a:ext cx="302209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CBD5E1"/>
                </a:solidFill>
              </a:rPr>
              <a:t>We build and deploy custom CrewAI crews into your environment — your VPC, your CI/CD, your existing tools (Jira, Salesforce, ServiceNow, Snowflake, GitHub, and more).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46304" y="3712464"/>
            <a:ext cx="3150108" cy="694944"/>
          </a:xfrm>
          <a:prstGeom prst="rect">
            <a:avLst/>
          </a:prstGeom>
          <a:solidFill>
            <a:srgbClr val="011D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146304" y="3712464"/>
            <a:ext cx="45720" cy="694944"/>
          </a:xfrm>
          <a:prstGeom prst="rect">
            <a:avLst/>
          </a:prstGeom>
          <a:solidFill>
            <a:srgbClr val="00E6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37744" y="3767328"/>
            <a:ext cx="302209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E6A5"/>
                </a:solidFill>
              </a:rPr>
              <a:t>Automate at Scale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37744" y="3968496"/>
            <a:ext cx="302209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CBD5E1"/>
                </a:solidFill>
              </a:rPr>
              <a:t>We operationalise multi-agent workflows for high-volume, repeatable tasks — support, data processing, code review, compliance checks — running autonomously 24/7.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351276" y="3712464"/>
            <a:ext cx="3150108" cy="694944"/>
          </a:xfrm>
          <a:prstGeom prst="rect">
            <a:avLst/>
          </a:prstGeom>
          <a:solidFill>
            <a:srgbClr val="011D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3351276" y="3712464"/>
            <a:ext cx="45720" cy="694944"/>
          </a:xfrm>
          <a:prstGeom prst="rect">
            <a:avLst/>
          </a:prstGeom>
          <a:solidFill>
            <a:srgbClr val="00E6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442716" y="3767328"/>
            <a:ext cx="302209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E6A5"/>
                </a:solidFill>
              </a:rPr>
              <a:t>Govern &amp; Evolve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442716" y="3968496"/>
            <a:ext cx="302209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CBD5E1"/>
                </a:solidFill>
              </a:rPr>
              <a:t>We embed CrewAI Enterprise governance — audit trails, guardrails, human-in-the-loop checkpoints, and monitoring — so AI runs compliantly and continuously improves.</a:t>
            </a:r>
          </a:p>
        </p:txBody>
      </p:sp>
      <p:sp>
        <p:nvSpPr>
          <p:cNvPr id="45" name="Rectangle 44"/>
          <p:cNvSpPr/>
          <p:nvPr/>
        </p:nvSpPr>
        <p:spPr>
          <a:xfrm>
            <a:off x="0" y="4407408"/>
            <a:ext cx="6647688" cy="237744"/>
          </a:xfrm>
          <a:prstGeom prst="rect">
            <a:avLst/>
          </a:prstGeom>
          <a:solidFill>
            <a:srgbClr val="101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92024" y="4453128"/>
            <a:ext cx="63550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0E6A5"/>
                </a:solidFill>
              </a:rPr>
              <a:t>PROOF POINT — A LIVE CREWAI CREW WE BUILT: CODE REFACTORING &amp; AUDIT</a:t>
            </a:r>
          </a:p>
        </p:txBody>
      </p:sp>
      <p:sp>
        <p:nvSpPr>
          <p:cNvPr id="47" name="Rectangle 46"/>
          <p:cNvSpPr/>
          <p:nvPr/>
        </p:nvSpPr>
        <p:spPr>
          <a:xfrm>
            <a:off x="0" y="4645152"/>
            <a:ext cx="6647688" cy="201168"/>
          </a:xfrm>
          <a:prstGeom prst="rect">
            <a:avLst/>
          </a:prstGeom>
          <a:solidFill>
            <a:srgbClr val="F5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46304" y="4672584"/>
            <a:ext cx="63550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011D57"/>
                </a:solidFill>
              </a:rPr>
              <a:t>One command — your legacy file in, five enterprise-grade outputs out — in one automated run.</a:t>
            </a:r>
          </a:p>
        </p:txBody>
      </p:sp>
      <p:sp>
        <p:nvSpPr>
          <p:cNvPr id="49" name="Rectangle 48"/>
          <p:cNvSpPr/>
          <p:nvPr/>
        </p:nvSpPr>
        <p:spPr>
          <a:xfrm>
            <a:off x="0" y="4846320"/>
            <a:ext cx="6647688" cy="530352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2112264" y="4965192"/>
            <a:ext cx="15544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048E5"/>
                </a:solidFill>
              </a:rPr>
              <a:t>&gt;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233672" y="4965192"/>
            <a:ext cx="15544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048E5"/>
                </a:solidFill>
              </a:rPr>
              <a:t>&gt;</a:t>
            </a:r>
          </a:p>
        </p:txBody>
      </p:sp>
      <p:sp>
        <p:nvSpPr>
          <p:cNvPr id="52" name="Rectangle 51"/>
          <p:cNvSpPr/>
          <p:nvPr/>
        </p:nvSpPr>
        <p:spPr>
          <a:xfrm>
            <a:off x="146304" y="4873752"/>
            <a:ext cx="1965960" cy="475488"/>
          </a:xfrm>
          <a:prstGeom prst="rect">
            <a:avLst/>
          </a:prstGeom>
          <a:solidFill>
            <a:srgbClr val="011D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146304" y="4873752"/>
            <a:ext cx="45720" cy="475488"/>
          </a:xfrm>
          <a:prstGeom prst="rect">
            <a:avLst/>
          </a:prstGeom>
          <a:solidFill>
            <a:srgbClr val="004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228600" y="4910328"/>
            <a:ext cx="1856232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1" i="0">
                <a:solidFill>
                  <a:srgbClr val="0048E5"/>
                </a:solidFill>
              </a:rPr>
              <a:t>AGENT 01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228600" y="5038344"/>
            <a:ext cx="185623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</a:rPr>
              <a:t>Principal Software Architect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228600" y="5184648"/>
            <a:ext cx="185623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 i="0">
                <a:solidFill>
                  <a:srgbClr val="CBD5E1"/>
                </a:solidFill>
              </a:rPr>
              <a:t>AST analysis, complexity &amp; debt scoring  &gt;&gt;  passes structured parse report to Agent 02</a:t>
            </a:r>
          </a:p>
        </p:txBody>
      </p:sp>
      <p:sp>
        <p:nvSpPr>
          <p:cNvPr id="57" name="Rectangle 56"/>
          <p:cNvSpPr/>
          <p:nvPr/>
        </p:nvSpPr>
        <p:spPr>
          <a:xfrm>
            <a:off x="2267712" y="4873752"/>
            <a:ext cx="1965960" cy="475488"/>
          </a:xfrm>
          <a:prstGeom prst="rect">
            <a:avLst/>
          </a:prstGeom>
          <a:solidFill>
            <a:srgbClr val="011D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2267712" y="4873752"/>
            <a:ext cx="45720" cy="475488"/>
          </a:xfrm>
          <a:prstGeom prst="rect">
            <a:avLst/>
          </a:prstGeom>
          <a:solidFill>
            <a:srgbClr val="004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2350008" y="4910328"/>
            <a:ext cx="1856232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1" i="0">
                <a:solidFill>
                  <a:srgbClr val="0048E5"/>
                </a:solidFill>
              </a:rPr>
              <a:t>AGENT 02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2350008" y="5038344"/>
            <a:ext cx="185623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</a:rPr>
              <a:t>Lead Cybersecurity Architect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2350008" y="5184648"/>
            <a:ext cx="185623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 i="0">
                <a:solidFill>
                  <a:srgbClr val="CBD5E1"/>
                </a:solidFill>
              </a:rPr>
              <a:t>NIST CSF 2.0, OWASP, CWE mapping &amp; risk grading  &gt;&gt;  passes full audit to Agent 03</a:t>
            </a:r>
          </a:p>
        </p:txBody>
      </p:sp>
      <p:sp>
        <p:nvSpPr>
          <p:cNvPr id="62" name="Rectangle 61"/>
          <p:cNvSpPr/>
          <p:nvPr/>
        </p:nvSpPr>
        <p:spPr>
          <a:xfrm>
            <a:off x="4389120" y="4873752"/>
            <a:ext cx="1965960" cy="475488"/>
          </a:xfrm>
          <a:prstGeom prst="rect">
            <a:avLst/>
          </a:prstGeom>
          <a:solidFill>
            <a:srgbClr val="011D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4389120" y="4873752"/>
            <a:ext cx="45720" cy="475488"/>
          </a:xfrm>
          <a:prstGeom prst="rect">
            <a:avLst/>
          </a:prstGeom>
          <a:solidFill>
            <a:srgbClr val="004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4471416" y="4910328"/>
            <a:ext cx="1856232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1" i="0">
                <a:solidFill>
                  <a:srgbClr val="0048E5"/>
                </a:solidFill>
              </a:rPr>
              <a:t>AGENT 03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4471416" y="5038344"/>
            <a:ext cx="185623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</a:rPr>
              <a:t>Staff Refactoring Engineer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471416" y="5184648"/>
            <a:ext cx="185623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 i="0">
                <a:solidFill>
                  <a:srgbClr val="CBD5E1"/>
                </a:solidFill>
              </a:rPr>
              <a:t>Writes secure code, Pytest suite, PR title &amp; risk rating using full upstream context</a:t>
            </a:r>
          </a:p>
        </p:txBody>
      </p:sp>
      <p:sp>
        <p:nvSpPr>
          <p:cNvPr id="67" name="Rectangle 66"/>
          <p:cNvSpPr/>
          <p:nvPr/>
        </p:nvSpPr>
        <p:spPr>
          <a:xfrm>
            <a:off x="0" y="5376672"/>
            <a:ext cx="6647688" cy="1737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0" y="5376672"/>
            <a:ext cx="6647688" cy="347472"/>
          </a:xfrm>
          <a:prstGeom prst="rect">
            <a:avLst/>
          </a:prstGeom>
          <a:solidFill>
            <a:srgbClr val="F5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146304" y="5413248"/>
            <a:ext cx="45720" cy="274320"/>
          </a:xfrm>
          <a:prstGeom prst="rect">
            <a:avLst/>
          </a:prstGeom>
          <a:solidFill>
            <a:srgbClr val="004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237744" y="5413248"/>
            <a:ext cx="1920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11D57"/>
                </a:solidFill>
              </a:rPr>
              <a:t>Security Audit Report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2194560" y="5431536"/>
            <a:ext cx="43159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6B7280"/>
                </a:solidFill>
              </a:rPr>
              <a:t>Every finding mapped to NIST CSF 2.0, OWASP Top 10 &amp; CWE — line-precise, severity graded</a:t>
            </a:r>
          </a:p>
        </p:txBody>
      </p:sp>
      <p:sp>
        <p:nvSpPr>
          <p:cNvPr id="72" name="Rectangle 71"/>
          <p:cNvSpPr/>
          <p:nvPr/>
        </p:nvSpPr>
        <p:spPr>
          <a:xfrm>
            <a:off x="146304" y="5760720"/>
            <a:ext cx="45720" cy="274320"/>
          </a:xfrm>
          <a:prstGeom prst="rect">
            <a:avLst/>
          </a:prstGeom>
          <a:solidFill>
            <a:srgbClr val="004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237744" y="5760720"/>
            <a:ext cx="1920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11D57"/>
                </a:solidFill>
              </a:rPr>
              <a:t>Refactored Source Code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2194560" y="5779008"/>
            <a:ext cx="43159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6B7280"/>
                </a:solidFill>
              </a:rPr>
              <a:t>Complete, type-hinted, production-ready secure module — zero placeholders</a:t>
            </a:r>
          </a:p>
        </p:txBody>
      </p:sp>
      <p:sp>
        <p:nvSpPr>
          <p:cNvPr id="75" name="Rectangle 74"/>
          <p:cNvSpPr/>
          <p:nvPr/>
        </p:nvSpPr>
        <p:spPr>
          <a:xfrm>
            <a:off x="0" y="6071616"/>
            <a:ext cx="6647688" cy="347472"/>
          </a:xfrm>
          <a:prstGeom prst="rect">
            <a:avLst/>
          </a:prstGeom>
          <a:solidFill>
            <a:srgbClr val="F5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146304" y="6108192"/>
            <a:ext cx="45720" cy="274320"/>
          </a:xfrm>
          <a:prstGeom prst="rect">
            <a:avLst/>
          </a:prstGeom>
          <a:solidFill>
            <a:srgbClr val="004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237744" y="6108192"/>
            <a:ext cx="1920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11D57"/>
                </a:solidFill>
              </a:rPr>
              <a:t>Pytest Suite  (15+ tests)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2194560" y="6126480"/>
            <a:ext cx="43159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6B7280"/>
                </a:solidFill>
              </a:rPr>
              <a:t>Full automated test coverage — drop directly into your CI/CD pipeline</a:t>
            </a:r>
          </a:p>
        </p:txBody>
      </p:sp>
      <p:sp>
        <p:nvSpPr>
          <p:cNvPr id="79" name="Rectangle 78"/>
          <p:cNvSpPr/>
          <p:nvPr/>
        </p:nvSpPr>
        <p:spPr>
          <a:xfrm>
            <a:off x="146304" y="6455664"/>
            <a:ext cx="45720" cy="274320"/>
          </a:xfrm>
          <a:prstGeom prst="rect">
            <a:avLst/>
          </a:prstGeom>
          <a:solidFill>
            <a:srgbClr val="004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237744" y="6455664"/>
            <a:ext cx="1920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11D57"/>
                </a:solidFill>
              </a:rPr>
              <a:t>Unified Git Diff Patch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2194560" y="6473952"/>
            <a:ext cx="43159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6B7280"/>
                </a:solidFill>
              </a:rPr>
              <a:t>Standard .patch file reviewable in GitHub, GitLab, or Bitbucket</a:t>
            </a:r>
          </a:p>
        </p:txBody>
      </p:sp>
      <p:sp>
        <p:nvSpPr>
          <p:cNvPr id="82" name="Rectangle 81"/>
          <p:cNvSpPr/>
          <p:nvPr/>
        </p:nvSpPr>
        <p:spPr>
          <a:xfrm>
            <a:off x="0" y="6766560"/>
            <a:ext cx="6647688" cy="347472"/>
          </a:xfrm>
          <a:prstGeom prst="rect">
            <a:avLst/>
          </a:prstGeom>
          <a:solidFill>
            <a:srgbClr val="F5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146304" y="6803136"/>
            <a:ext cx="45720" cy="274320"/>
          </a:xfrm>
          <a:prstGeom prst="rect">
            <a:avLst/>
          </a:prstGeom>
          <a:solidFill>
            <a:srgbClr val="004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237744" y="6803136"/>
            <a:ext cx="1920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11D57"/>
                </a:solidFill>
              </a:rPr>
              <a:t>PR + Jira Audit Package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2194560" y="6821424"/>
            <a:ext cx="43159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6B7280"/>
                </a:solidFill>
              </a:rPr>
              <a:t>Full PR description with HITL checklist and SOC 2 / ISO 27001 evidence trail</a:t>
            </a:r>
          </a:p>
        </p:txBody>
      </p:sp>
      <p:sp>
        <p:nvSpPr>
          <p:cNvPr id="86" name="Rectangle 85"/>
          <p:cNvSpPr/>
          <p:nvPr/>
        </p:nvSpPr>
        <p:spPr>
          <a:xfrm>
            <a:off x="0" y="7114032"/>
            <a:ext cx="6647688" cy="192024"/>
          </a:xfrm>
          <a:prstGeom prst="rect">
            <a:avLst/>
          </a:prstGeom>
          <a:solidFill>
            <a:srgbClr val="101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192024" y="7150608"/>
            <a:ext cx="635508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00E6A5"/>
                </a:solidFill>
              </a:rPr>
              <a:t>THE SCALE OF THE PROBLEM WE SOLVE</a:t>
            </a:r>
          </a:p>
        </p:txBody>
      </p:sp>
      <p:sp>
        <p:nvSpPr>
          <p:cNvPr id="88" name="Rectangle 87"/>
          <p:cNvSpPr/>
          <p:nvPr/>
        </p:nvSpPr>
        <p:spPr>
          <a:xfrm>
            <a:off x="146304" y="7306056"/>
            <a:ext cx="1568196" cy="484632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146304" y="7306056"/>
            <a:ext cx="45720" cy="484632"/>
          </a:xfrm>
          <a:prstGeom prst="rect">
            <a:avLst/>
          </a:prstGeom>
          <a:solidFill>
            <a:srgbClr val="004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228600" y="7342632"/>
            <a:ext cx="145846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11D57"/>
                </a:solidFill>
              </a:rPr>
              <a:t>$4.88M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228600" y="7571232"/>
            <a:ext cx="145846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0" i="0">
                <a:solidFill>
                  <a:srgbClr val="6B7280"/>
                </a:solidFill>
              </a:rPr>
              <a:t>Avg. data breach cost
(IBM 2024)</a:t>
            </a:r>
          </a:p>
        </p:txBody>
      </p:sp>
      <p:sp>
        <p:nvSpPr>
          <p:cNvPr id="92" name="Rectangle 91"/>
          <p:cNvSpPr/>
          <p:nvPr/>
        </p:nvSpPr>
        <p:spPr>
          <a:xfrm>
            <a:off x="1741932" y="7306056"/>
            <a:ext cx="1568196" cy="484632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1741932" y="7306056"/>
            <a:ext cx="45720" cy="484632"/>
          </a:xfrm>
          <a:prstGeom prst="rect">
            <a:avLst/>
          </a:prstGeom>
          <a:solidFill>
            <a:srgbClr val="004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1824228" y="7342632"/>
            <a:ext cx="145846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11D57"/>
                </a:solidFill>
              </a:rPr>
              <a:t>17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1824228" y="7571232"/>
            <a:ext cx="145846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0" i="0">
                <a:solidFill>
                  <a:srgbClr val="6B7280"/>
                </a:solidFill>
              </a:rPr>
              <a:t>Security rules in
built-in scanner</a:t>
            </a:r>
          </a:p>
        </p:txBody>
      </p:sp>
      <p:sp>
        <p:nvSpPr>
          <p:cNvPr id="96" name="Rectangle 95"/>
          <p:cNvSpPr/>
          <p:nvPr/>
        </p:nvSpPr>
        <p:spPr>
          <a:xfrm>
            <a:off x="3337560" y="7306056"/>
            <a:ext cx="1568196" cy="484632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Rectangle 96"/>
          <p:cNvSpPr/>
          <p:nvPr/>
        </p:nvSpPr>
        <p:spPr>
          <a:xfrm>
            <a:off x="3337560" y="7306056"/>
            <a:ext cx="45720" cy="484632"/>
          </a:xfrm>
          <a:prstGeom prst="rect">
            <a:avLst/>
          </a:prstGeom>
          <a:solidFill>
            <a:srgbClr val="004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3419856" y="7342632"/>
            <a:ext cx="145846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11D57"/>
                </a:solidFill>
              </a:rPr>
              <a:t>3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3419856" y="7571232"/>
            <a:ext cx="145846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0" i="0">
                <a:solidFill>
                  <a:srgbClr val="6B7280"/>
                </a:solidFill>
              </a:rPr>
              <a:t>Specialist
agents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4933188" y="7306056"/>
            <a:ext cx="1568196" cy="484632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ectangle 100"/>
          <p:cNvSpPr/>
          <p:nvPr/>
        </p:nvSpPr>
        <p:spPr>
          <a:xfrm>
            <a:off x="4933188" y="7306056"/>
            <a:ext cx="45720" cy="484632"/>
          </a:xfrm>
          <a:prstGeom prst="rect">
            <a:avLst/>
          </a:prstGeom>
          <a:solidFill>
            <a:srgbClr val="004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5015484" y="7342632"/>
            <a:ext cx="145846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11D57"/>
                </a:solidFill>
              </a:rPr>
              <a:t>65%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5015484" y="7571232"/>
            <a:ext cx="145846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0" i="0">
                <a:solidFill>
                  <a:srgbClr val="6B7280"/>
                </a:solidFill>
              </a:rPr>
              <a:t>Fortune 500 already
run on CrewAI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0" y="7790688"/>
            <a:ext cx="6647688" cy="1627632"/>
          </a:xfrm>
          <a:prstGeom prst="rect">
            <a:avLst/>
          </a:prstGeom>
          <a:solidFill>
            <a:srgbClr val="011D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Rectangle 104"/>
          <p:cNvSpPr/>
          <p:nvPr/>
        </p:nvSpPr>
        <p:spPr>
          <a:xfrm>
            <a:off x="0" y="7790688"/>
            <a:ext cx="54864" cy="1627632"/>
          </a:xfrm>
          <a:prstGeom prst="rect">
            <a:avLst/>
          </a:prstGeom>
          <a:solidFill>
            <a:srgbClr val="00E6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164592" y="7900416"/>
            <a:ext cx="62636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Ready to put CrewAI to work in your organisation?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164592" y="8229600"/>
            <a:ext cx="62636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CBD5E1"/>
                </a:solidFill>
              </a:rPr>
              <a:t>GTP offers a complimentary discovery session — we will map your use case to a
CrewAI crew, demo a live build, and define a fast-track delivery plan.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146304" y="8705088"/>
            <a:ext cx="6355080" cy="18288"/>
          </a:xfrm>
          <a:prstGeom prst="rect">
            <a:avLst/>
          </a:prstGeom>
          <a:solidFill>
            <a:srgbClr val="004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164592" y="8778240"/>
            <a:ext cx="3474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E6A5"/>
                </a:solidFill>
              </a:rPr>
              <a:t>contact@globaltechnologypartners.com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3931920" y="8778240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00E6A5"/>
                </a:solidFill>
              </a:rPr>
              <a:t>globaltechnologypartners.com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164592" y="9034272"/>
            <a:ext cx="47548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CBD5E1"/>
                </a:solidFill>
              </a:rPr>
              <a:t>github.com/gtprepository/partner-assets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164592" y="9308592"/>
            <a:ext cx="2194560" cy="256032"/>
          </a:xfrm>
          <a:prstGeom prst="rect">
            <a:avLst/>
          </a:prstGeom>
          <a:solidFill>
            <a:srgbClr val="00E6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182880" y="9326880"/>
            <a:ext cx="215798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011D57"/>
                </a:solidFill>
              </a:rPr>
              <a:t>Built on CrewAI + Claude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3474720" y="9363456"/>
            <a:ext cx="3017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 i="0">
                <a:solidFill>
                  <a:srgbClr val="6B7280"/>
                </a:solidFill>
              </a:rPr>
              <a:t>Confidential — For Client Discussion Only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