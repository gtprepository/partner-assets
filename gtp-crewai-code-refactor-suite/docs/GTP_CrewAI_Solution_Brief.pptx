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54864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228600"/>
            <a:ext cx="256032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46888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D1B2A"/>
                </a:solidFill>
              </a:rPr>
              <a:t>GTP ACCELERATORS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05840"/>
            <a:ext cx="73152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Autonomous Code Security
&amp; Refactoring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6517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5A623"/>
                </a:solidFill>
              </a:rPr>
              <a:t>Powered by Multi-Agent AI  ·  CrewAI  ·  Anthropic Claude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54864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0D8E8"/>
                </a:solidFill>
              </a:rPr>
              <a:t>From legacy vulnerability to production-ready secure code —
audit-mapped, tested, and PR-packaged in one automated run.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5943600"/>
            <a:ext cx="4297680" cy="68580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601675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5A623"/>
                </a:solidFill>
              </a:rPr>
              <a:t>Built on CrewAI  ·  Powered by Claude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65379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BB4"/>
                </a:solidFill>
              </a:rPr>
              <a:t>Confidential — For Client Discussion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Legacy Code is a Growing Security &amp; Compliance Liability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2743200" cy="19202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274320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2344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</a:rPr>
              <a:t>$4.88M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920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</a:rPr>
              <a:t>Average cost of a
data breach — 2024
(IBM Report)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143000"/>
            <a:ext cx="2743200" cy="19202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64408" y="1143000"/>
            <a:ext cx="274320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64408" y="12344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</a:rPr>
              <a:t>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64408" y="1920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</a:rPr>
              <a:t>Security rules in the
built-in scanner
(CWE / OWASP mapped)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8776" y="1143000"/>
            <a:ext cx="2743200" cy="19202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08776" y="1143000"/>
            <a:ext cx="274320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12344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1920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</a:rPr>
              <a:t>Specialist agents:
architect, security
assessor, refactorer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53144" y="1143000"/>
            <a:ext cx="2743200" cy="19202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53144" y="1143000"/>
            <a:ext cx="274320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234440"/>
            <a:ext cx="2743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5A623"/>
                </a:solidFill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92024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D0D8E8"/>
                </a:solidFill>
              </a:rPr>
              <a:t>Of SOC 2 / ISO 27001 audits
require documented
remediation evidence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" y="3246120"/>
            <a:ext cx="11704320" cy="36576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429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▸  SQL Injection, hardcoded secrets, unsafe deserialization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794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The most common critical vulnerabilities — all detectable and fixable, yet routinely missed in manual reviews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59" y="3429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▸  Manual audits don't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59" y="3794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A senior security engineer reviewing code manually costs $200–400/hr and covers 50–100 lines/hour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3429000"/>
            <a:ext cx="374903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▸  Compliance gap = audit risk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7947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Undocumented vulnerability remediation exposes organisations to failed SOC 2, ISO 27001, and FedRAMP audits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9728" y="6583680"/>
            <a:ext cx="12079224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6294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BB4"/>
                </a:solidFill>
              </a:rPr>
              <a:t>GTP Accelerators  · 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BB4"/>
                </a:solidFill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One Command. Five Enterprise-Grade Outputs.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097280"/>
            <a:ext cx="2240280" cy="30175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097280"/>
            <a:ext cx="224028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2344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Security Audit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" y="173736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Every finding mapped to
NIST CSF 2.0, OWASP Top 10,
and CWE — line-precise,
severity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33472" y="1097280"/>
            <a:ext cx="2240280" cy="30175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633472" y="1097280"/>
            <a:ext cx="224028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24912" y="12344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Refactored Source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24912" y="173736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Complete, runnable, type-hinted
secure replacement module.
Zero placeholders.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10912" y="1097280"/>
            <a:ext cx="2240280" cy="30175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10912" y="1097280"/>
            <a:ext cx="224028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2344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Pytest Suite (15+ tests)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02352" y="173736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Full test coverage of the
refactored module — ready
for your CI/CD pipeline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8352" y="1097280"/>
            <a:ext cx="2240280" cy="30175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88352" y="1097280"/>
            <a:ext cx="224028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79792" y="12344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Unified Git Diff Patch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173736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Standard .patch file
reviewable in GitHub,
GitLab, Bitbucket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65792" y="1097280"/>
            <a:ext cx="2240280" cy="30175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65792" y="1097280"/>
            <a:ext cx="2240280" cy="64008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57232" y="1234440"/>
            <a:ext cx="2057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PR + Jira Audit Package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1737360"/>
            <a:ext cx="2057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Full PR description, HITL
checklist, and Jira panel
comment — audit-ready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4297680"/>
            <a:ext cx="11658600" cy="54864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440740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5A623"/>
                </a:solidFill>
              </a:rPr>
              <a:t>LEGACY FILE IN  ──────────────────────────────────────────────────────────────────────────  SECURE, TESTED, DOCUMENTED CODE OUT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892040"/>
            <a:ext cx="3959352" cy="6858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5010912"/>
            <a:ext cx="39593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D1B2A"/>
                </a:solidFill>
              </a:rPr>
              <a:t>End-to-End in One Automated Run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71500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74C3C"/>
                </a:solidFill>
              </a:rPr>
              <a:t>BEFORE:  cursor.execute("SELECT * FROM users WHERE id='" + user_id + "'")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035040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2ECC71"/>
                </a:solidFill>
              </a:rPr>
              <a:t>AFTER:   cursor.execute("SELECT * FROM users WHERE id = %s", (user_id,))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9728" y="6583680"/>
            <a:ext cx="12079224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6294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BB4"/>
                </a:solidFill>
              </a:rPr>
              <a:t>GTP Accelerators  · 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0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BB4"/>
                </a:solidFill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THE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CrewAI Multi-Agent Orchestration Powers This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097280"/>
            <a:ext cx="3749039" cy="34747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097280"/>
            <a:ext cx="502920" cy="3474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" y="11521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AGENT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727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Principal Software
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121408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AST-based structural analysis
Cyclomatic complexity scoring
Code smell detection
Technical debt quantification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1097280"/>
            <a:ext cx="3749039" cy="34747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33672" y="1097280"/>
            <a:ext cx="502920" cy="3474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6824" y="11521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AGENT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5727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Lead Cybersecurity
Architect &amp; CISO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121408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NIST CSF 2.0 category mapping
OWASP Top 10 (2021) grading
CWE identifier assignment
Severity &amp; risk scoring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11311" y="1097280"/>
            <a:ext cx="3749039" cy="34747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11311" y="1097280"/>
            <a:ext cx="502920" cy="3474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84463" y="1152144"/>
            <a:ext cx="822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1B2A"/>
                </a:solidFill>
              </a:rPr>
              <a:t>AGENT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1572768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A623"/>
                </a:solidFill>
              </a:rPr>
              <a:t>Senior AI-Native
Refactoring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48471" y="2121408"/>
            <a:ext cx="3429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0D8E8"/>
                </a:solidFill>
              </a:rPr>
              <a:t>Full remediation implementation
Type-hinted, secure code output
Complete pytest suite generation
Conventional commits PR title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5072" y="237744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5A623"/>
                </a:solidFill>
              </a:rPr>
              <a:t>▶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82712" y="2377440"/>
            <a:ext cx="2560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F5A623"/>
                </a:solidFill>
              </a:rPr>
              <a:t>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8600" y="4754880"/>
            <a:ext cx="11704320" cy="36576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48920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WHY CREWAI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" y="52578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▸  Role-based Specialisation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6032" y="559612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B4"/>
                </a:solidFill>
              </a:rPr>
              <a:t>Each agent is optimised for its domain — no single model doing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2578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▸  Context Chaining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46120" y="559612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B4"/>
                </a:solidFill>
              </a:rPr>
              <a:t>Downstream agents receive full upstream output as grounded context — eliminates hallucination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36208" y="52578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▸  Deterministic Workflow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36208" y="559612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B4"/>
                </a:solidFill>
              </a:rPr>
              <a:t>Sequential execution with built-in Human-in-the-Loop checkpoints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52578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▸  Tool Extensibility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5596128"/>
            <a:ext cx="2834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A9BB4"/>
                </a:solidFill>
              </a:rPr>
              <a:t>Plug in SAST/DAST scanners, Jira API, GitHub API — no re-architecture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9728" y="6583680"/>
            <a:ext cx="12079224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6294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BB4"/>
                </a:solidFill>
              </a:rPr>
              <a:t>GTP Accelerators  · 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BB4"/>
                </a:solidFill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BUSINESS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GTP Helps Organisations Leverage CrewAI at Enterprise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56032" y="1097280"/>
            <a:ext cx="2834640" cy="46634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097280"/>
            <a:ext cx="283464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161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Engineering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Eliminate weeks of refactoring backlog in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679191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Enforce consistent security patterns across all codebases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575304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Plug-and-play with existing PR and CI/CD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471416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Reduce code review cycles — diffs are clean and annotated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1097280"/>
            <a:ext cx="2834640" cy="46634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46120" y="1097280"/>
            <a:ext cx="283464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5848" y="12161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Security &amp; Compliance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Every finding documented for SOC 2 / ISO 27001 / FedRAMP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5848" y="2679191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Reduce mean-time-to-remediation from days to minutes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55848" y="3575304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Consistent, repeatable audit trail for every code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55848" y="4471416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17-rule scanner extensible with your internal standards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6208" y="1097280"/>
            <a:ext cx="2834640" cy="46634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36208" y="1097280"/>
            <a:ext cx="283464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5936" y="12161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A623"/>
                </a:solidFill>
              </a:rPr>
              <a:t>CISOs &amp; Engineering Leadership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5936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Quantify and track technical debt reduction over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2679191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Free senior engineers from repetitive audit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575304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Demonstrate proactive security posture to regulators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5936" y="4471416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Board-ready metrics: risk score, findings fixed, MTTR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26296" y="1097280"/>
            <a:ext cx="2834640" cy="46634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26296" y="1097280"/>
            <a:ext cx="283464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6024" y="1216152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CC71"/>
                </a:solidFill>
              </a:rPr>
              <a:t>GTP Delivery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6024" y="1783080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On-premise — source code never leaves your VPC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36024" y="2679191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CI/CD integration via GitHub Actions / Azure DevOps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6024" y="3575304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Custom rule sets for internal coding standards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6024" y="4471416"/>
            <a:ext cx="2651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0D8E8"/>
                </a:solidFill>
              </a:rPr>
              <a:t>▸  Java, TypeScript, Go — roadmapped via tree-sitter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9728" y="6583680"/>
            <a:ext cx="12079224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66294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BB4"/>
                </a:solidFill>
              </a:rPr>
              <a:t>GTP Accelerators  · 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0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BB4"/>
                </a:solidFill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" y="0"/>
            <a:ext cx="12079224" cy="96012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73152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TECHNOLOGY &amp; NEXT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84048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Built on Leading AI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577840" cy="292608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43000"/>
            <a:ext cx="557784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51960" y="1261872"/>
            <a:ext cx="150876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128930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618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</a:rPr>
              <a:t>CrewAI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Multi-agent orchestration framework powering the pipeline.
GTP builds on CrewAI, adding production
hardening, custom tooling, and enterprise implementation expertise
that takes CrewAI from framework to business outcome.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143000"/>
            <a:ext cx="5577840" cy="292608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143000"/>
            <a:ext cx="5577840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104120" y="1261872"/>
            <a:ext cx="1508760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49839" y="1289304"/>
            <a:ext cx="1417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261872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5A623"/>
                </a:solidFill>
              </a:rPr>
              <a:t>Anthropic Claude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78308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0D8E8"/>
                </a:solidFill>
              </a:rPr>
              <a:t>Foundation model powering all three specialist agents.
Claude claude-sonnet-4-6 provides enterprise-grade reasoning with
data privacy guarantees critical for code that touches
production security controls.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251960"/>
            <a:ext cx="11521440" cy="1005840"/>
          </a:xfrm>
          <a:prstGeom prst="rect">
            <a:avLst/>
          </a:prstGeom>
          <a:solidFill>
            <a:srgbClr val="10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4251960"/>
            <a:ext cx="54864" cy="10058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10642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FFFF"/>
                </a:solidFill>
              </a:rPr>
              <a:t>"We don't just implement AI frameworks. We engineer AI systems that deliver measurable outcomes your security and compliance teams can stand behind."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498348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A623"/>
                </a:solidFill>
              </a:rPr>
              <a:t>— GTP Accelerators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440680"/>
            <a:ext cx="11521440" cy="9601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48640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1B2A"/>
                </a:solidFill>
              </a:rPr>
              <a:t>Ready to audit your first codebase?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870448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D1B2A"/>
                </a:solidFill>
              </a:rPr>
              <a:t>GTP offers a complimentary 1-hour discovery session — we'll demonstrate the crew against a real file from your codebase.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0" y="5486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D1B2A"/>
                </a:solidFill>
              </a:rPr>
              <a:t>pjjeevan@gmail.com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5870448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0D1B2A"/>
                </a:solidFill>
              </a:rPr>
              <a:t>github.com/gtprepository/partner-assets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" y="6583680"/>
            <a:ext cx="12079224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62940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A9BB4"/>
                </a:solidFill>
              </a:rPr>
              <a:t>GTP Accelerators  ·  Confidential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629400"/>
            <a:ext cx="6400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A9BB4"/>
                </a:solidFill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