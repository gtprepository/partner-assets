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647688" cy="9418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647688" cy="960120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64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GLOBAL TECHNOLOGY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3832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Enterprise AI Solutions  |  globaltechnologypartners.com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91440"/>
            <a:ext cx="2011680" cy="731520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109728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11D57"/>
                </a:solidFill>
              </a:rPr>
              <a:t>BUILT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292608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11D57"/>
                </a:solidFill>
              </a:rPr>
              <a:t>CrewAI Multi-Agent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493776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11D57"/>
                </a:solidFill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6583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E6A5"/>
                </a:solidFill>
              </a:rPr>
              <a:t>Delivering CrewAI's Multi-Agent Platform to Your Enterprise — Designed. Built. Production-Ready.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60120"/>
            <a:ext cx="6647688" cy="70408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" y="1033272"/>
            <a:ext cx="6355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11D57"/>
                </a:solidFill>
              </a:rPr>
              <a:t>GTP builds on CrewAI to translate CrewAI's multi-agent platform into production-ready AI systems for your business — rapidly, reliably, and at enterprise scale. We help you unlock CrewAI value across your operations.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664208"/>
            <a:ext cx="6647688" cy="23774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" y="1709928"/>
            <a:ext cx="6355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A5"/>
                </a:solidFill>
              </a:rPr>
              <a:t>THE CREWAI PLATFORM — WHAT WE BRING TO YOUR ORGANISATION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" y="1901952"/>
            <a:ext cx="2100072" cy="8412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" y="1901952"/>
            <a:ext cx="45720" cy="841248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" y="1956816"/>
            <a:ext cx="1972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1D57"/>
                </a:solidFill>
              </a:rPr>
              <a:t>Crews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" y="2176272"/>
            <a:ext cx="19720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Self-organising teams of specialist AI agents — defined roles, goals, and full context sharing. They collaborate like a human team to solve complex problems autonomously.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73808" y="1901952"/>
            <a:ext cx="2100072" cy="8412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73808" y="1901952"/>
            <a:ext cx="45720" cy="841248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65248" y="1956816"/>
            <a:ext cx="1972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1D57"/>
                </a:solidFill>
              </a:rPr>
              <a:t>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5248" y="2176272"/>
            <a:ext cx="19720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Event-driven workflow orchestration — manages state, conditional branching, and business logic. The control layer that coordinates Crews end-to-end.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1312" y="1901952"/>
            <a:ext cx="2100072" cy="8412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1312" y="1901952"/>
            <a:ext cx="45720" cy="841248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2752" y="1956816"/>
            <a:ext cx="1972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11D57"/>
                </a:solidFill>
              </a:rPr>
              <a:t>Enterprise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2752" y="2176272"/>
            <a:ext cx="19720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Production runtime with centralised governance, monitoring, and guardrails. 65% of Fortune 500 run on CrewAI. 450M+ agentic workflows executed per month.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2743200"/>
            <a:ext cx="6647688" cy="23774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" y="2788920"/>
            <a:ext cx="6355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A5"/>
                </a:solidFill>
              </a:rPr>
              <a:t>HOW GTP HELPS YOU LEVERAGE CREWAI — YOUR IMPLEMENTATION TEAM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" y="2980944"/>
            <a:ext cx="3150108" cy="694944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6304" y="2980944"/>
            <a:ext cx="45720" cy="694944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" y="3035808"/>
            <a:ext cx="30220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A5"/>
                </a:solidFill>
              </a:rPr>
              <a:t>Discover &amp;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" y="3236976"/>
            <a:ext cx="30220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We map your business process to a CrewAI architecture — defining agent roles, tasks, and tools. From use-case discovery to agent blueprint in days, not months.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51276" y="2980944"/>
            <a:ext cx="3150108" cy="694944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51276" y="2980944"/>
            <a:ext cx="45720" cy="694944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2716" y="3035808"/>
            <a:ext cx="30220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A5"/>
                </a:solidFill>
              </a:rPr>
              <a:t>Build &amp; Integrate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2716" y="3236976"/>
            <a:ext cx="30220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We build and deploy custom CrewAI crews into your environment — your VPC, your CI/CD, your existing tools (Jira, Salesforce, ServiceNow, Snowflake, GitHub, and more).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" y="3712464"/>
            <a:ext cx="3150108" cy="694944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6304" y="3712464"/>
            <a:ext cx="45720" cy="694944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" y="3767328"/>
            <a:ext cx="30220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A5"/>
                </a:solidFill>
              </a:rPr>
              <a:t>Automate at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" y="3968496"/>
            <a:ext cx="30220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We operationalise multi-agent workflows for high-volume, repeatable tasks — support, data processing, code review, compliance checks — running autonomously 24/7.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51276" y="3712464"/>
            <a:ext cx="3150108" cy="694944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51276" y="3712464"/>
            <a:ext cx="45720" cy="694944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42716" y="3767328"/>
            <a:ext cx="30220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A5"/>
                </a:solidFill>
              </a:rPr>
              <a:t>Govern &amp; Evolve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2716" y="3968496"/>
            <a:ext cx="30220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We embed CrewAI Enterprise governance — audit trails, guardrails, human-in-the-loop checkpoints, and monitoring — so AI runs compliantly and continuously improves.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407408"/>
            <a:ext cx="6647688" cy="23774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" y="4453128"/>
            <a:ext cx="6355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E6A5"/>
                </a:solidFill>
              </a:rPr>
              <a:t>PROOF POINT — A LIVE CREWAI CREW WE BUILT: CODE REFACTORING &amp; AUDIT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645152"/>
            <a:ext cx="6647688" cy="201168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6304" y="4672584"/>
            <a:ext cx="6355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11D57"/>
                </a:solidFill>
              </a:rPr>
              <a:t>One command — your legacy file in, five enterprise-grade outputs out — in one automated run.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846320"/>
            <a:ext cx="6647688" cy="5303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12264" y="4965192"/>
            <a:ext cx="155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8E5"/>
                </a:solidFill>
              </a:rPr>
              <a:t>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33672" y="4965192"/>
            <a:ext cx="155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8E5"/>
                </a:solidFill>
              </a:rPr>
              <a:t>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6304" y="4873752"/>
            <a:ext cx="1965960" cy="475488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6304" y="4873752"/>
            <a:ext cx="45720" cy="475488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" y="4910328"/>
            <a:ext cx="1856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048E5"/>
                </a:solidFill>
              </a:rPr>
              <a:t>AGENT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" y="5038344"/>
            <a:ext cx="1856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Principal Software Architect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" y="5184648"/>
            <a:ext cx="1856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BD5E1"/>
                </a:solidFill>
              </a:rPr>
              <a:t>AST analysis, complexity &amp; debt scoring  &gt;&gt;  passes structured parse report to Agent 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67712" y="4873752"/>
            <a:ext cx="1965960" cy="475488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67712" y="4873752"/>
            <a:ext cx="45720" cy="475488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50008" y="4910328"/>
            <a:ext cx="1856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048E5"/>
                </a:solidFill>
              </a:rPr>
              <a:t>AGENT 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50008" y="5038344"/>
            <a:ext cx="1856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Lead Cybersecurity Architect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50008" y="5184648"/>
            <a:ext cx="1856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BD5E1"/>
                </a:solidFill>
              </a:rPr>
              <a:t>NIST CSF 2.0, OWASP, CWE mapping &amp; risk grading  &gt;&gt;  passes full audit to Agent 03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4873752"/>
            <a:ext cx="1965960" cy="475488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89120" y="4873752"/>
            <a:ext cx="45720" cy="475488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71416" y="4910328"/>
            <a:ext cx="1856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048E5"/>
                </a:solidFill>
              </a:rPr>
              <a:t>AGENT 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71416" y="5038344"/>
            <a:ext cx="18562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Staff Refactoring Engineer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71416" y="5184648"/>
            <a:ext cx="1856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BD5E1"/>
                </a:solidFill>
              </a:rPr>
              <a:t>Writes secure code, Pytest suite, PR title &amp; risk rating using full upstream context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5376672"/>
            <a:ext cx="664768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5376672"/>
            <a:ext cx="6647688" cy="3474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6304" y="5413248"/>
            <a:ext cx="45720" cy="2743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7744" y="54132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1D57"/>
                </a:solidFill>
              </a:rPr>
              <a:t>Security Audit Report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0" y="5431536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Every finding mapped to NIST CSF 2.0, OWASP Top 10 &amp; CWE — line-precise, severity graded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6304" y="5760720"/>
            <a:ext cx="45720" cy="2743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7744" y="57607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1D57"/>
                </a:solidFill>
              </a:rPr>
              <a:t>Refactored Source Code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94560" y="5779008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Complete, type-hinted, production-ready secure module — zero placeholders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071616"/>
            <a:ext cx="6647688" cy="3474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46304" y="6108192"/>
            <a:ext cx="45720" cy="2743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7744" y="61081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1D57"/>
                </a:solidFill>
              </a:rPr>
              <a:t>Pytest Suite  (15+ tests)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94560" y="6126480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Full automated test coverage — drop directly into your CI/CD pipeline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6304" y="6455664"/>
            <a:ext cx="45720" cy="2743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7744" y="645566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1D57"/>
                </a:solidFill>
              </a:rPr>
              <a:t>Unified Git Diff Patch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94560" y="6473952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Standard .patch file reviewable in GitHub, GitLab, or Bitbucket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66560"/>
            <a:ext cx="6647688" cy="347472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46304" y="6803136"/>
            <a:ext cx="45720" cy="274320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37744" y="68031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11D57"/>
                </a:solidFill>
              </a:rPr>
              <a:t>PR + Jira Audit Package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94560" y="6821424"/>
            <a:ext cx="4315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Full PR description with HITL checklist and SOC 2 / ISO 27001 evidence trail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7114032"/>
            <a:ext cx="6647688" cy="19202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2024" y="7150608"/>
            <a:ext cx="6355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E6A5"/>
                </a:solidFill>
              </a:rPr>
              <a:t>THE SCALE OF THE PROBLEM WE SOLVE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6304" y="7306056"/>
            <a:ext cx="1568196" cy="4846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46304" y="7306056"/>
            <a:ext cx="45720" cy="484632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8600" y="7342632"/>
            <a:ext cx="14584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1D57"/>
                </a:solidFill>
              </a:rPr>
              <a:t>$4.88M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8600" y="7571232"/>
            <a:ext cx="14584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Avg. data breach cost
(IBM 2024)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41932" y="7306056"/>
            <a:ext cx="1568196" cy="4846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741932" y="7306056"/>
            <a:ext cx="45720" cy="484632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824228" y="7342632"/>
            <a:ext cx="14584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1D57"/>
                </a:solidFill>
              </a:rPr>
              <a:t>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24228" y="7571232"/>
            <a:ext cx="14584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Security rules in
built-in scanner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337560" y="7306056"/>
            <a:ext cx="1568196" cy="4846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337560" y="7306056"/>
            <a:ext cx="45720" cy="484632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419856" y="7342632"/>
            <a:ext cx="14584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1D57"/>
                </a:solidFill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19856" y="7571232"/>
            <a:ext cx="14584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Specialist
agents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3188" y="7306056"/>
            <a:ext cx="1568196" cy="48463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933188" y="7306056"/>
            <a:ext cx="45720" cy="484632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15484" y="7342632"/>
            <a:ext cx="14584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1D57"/>
                </a:solidFill>
              </a:rPr>
              <a:t>65%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15484" y="7571232"/>
            <a:ext cx="14584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</a:rPr>
              <a:t>Fortune 500 already
run on CrewAI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7790688"/>
            <a:ext cx="6647688" cy="1627632"/>
          </a:xfrm>
          <a:prstGeom prst="rect">
            <a:avLst/>
          </a:prstGeom>
          <a:solidFill>
            <a:srgbClr val="011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0" y="7790688"/>
            <a:ext cx="54864" cy="1627632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64592" y="7900416"/>
            <a:ext cx="6263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Ready to put CrewAI to work in your organisation?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4592" y="8229600"/>
            <a:ext cx="6263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GTP offers a complimentary discovery session — we will map your use case to a
CrewAI crew, demo a live build, and define a fast-track delivery plan.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6304" y="8705088"/>
            <a:ext cx="6355080" cy="18288"/>
          </a:xfrm>
          <a:prstGeom prst="rect">
            <a:avLst/>
          </a:prstGeom>
          <a:solidFill>
            <a:srgbClr val="00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64592" y="8778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6A5"/>
                </a:solidFill>
              </a:rPr>
              <a:t>contact@globaltechnologypartners.com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31920" y="8778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E6A5"/>
                </a:solidFill>
              </a:rPr>
              <a:t>globaltechnologypartners.com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64592" y="903427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github.com/gtprepository/gtp-crewai-code-refactor-suite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4592" y="9308592"/>
            <a:ext cx="2194560" cy="256032"/>
          </a:xfrm>
          <a:prstGeom prst="rect">
            <a:avLst/>
          </a:prstGeom>
          <a:solidFill>
            <a:srgbClr val="00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82880" y="9326880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11D57"/>
                </a:solidFill>
              </a:rPr>
              <a:t>Built on CrewAI + Claude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474720" y="936345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7280"/>
                </a:solidFill>
              </a:rPr>
              <a:t>Confidential — For Client Discussion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